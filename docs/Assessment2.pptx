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20"/>
    <p:restoredTop sz="94659"/>
  </p:normalViewPr>
  <p:slideViewPr>
    <p:cSldViewPr snapToGrid="0">
      <p:cViewPr varScale="1">
        <p:scale>
          <a:sx n="146" d="100"/>
          <a:sy n="146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83CAA-7E62-7F59-B666-B28D2C2BD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C0E83-BA7B-0C54-0289-230F07EAE0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EEBBA-15A5-AF31-57C6-1106F89EF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CA1D3-40D2-8347-B575-DC041F38E38E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48132-4067-F385-398E-B5E6C9B09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C3D22-FDA0-0D3F-22E3-CE489252B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9538-E3FA-4047-A353-24FE77EE0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32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90707-7EF1-804C-6D9F-89BA2BEEA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ACFC5-147E-A63C-5886-24E6D6082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C0524-98AE-3372-727A-5A32EF7F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CA1D3-40D2-8347-B575-DC041F38E38E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7B83F-217A-BD91-163C-876E0540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A95D8-319D-E323-7D30-C10F6917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9538-E3FA-4047-A353-24FE77EE0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5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B663-3762-F4E2-62BF-E309745CF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BC539-BC62-045C-5120-48517BDCB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9B130-8AEC-4EAD-F107-10B26959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CA1D3-40D2-8347-B575-DC041F38E38E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565C1-9804-59A7-F229-AA713D936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2908B-0E14-F128-43AD-9B4B31019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9538-E3FA-4047-A353-24FE77EE0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10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713FF-DEB3-D3D3-E1BF-D4E3909D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7AF55-3C85-D8DF-44D8-20E53B5CED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2F7CB-6300-82B3-4FB7-EB260B813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B19A3-FE8A-5D75-3E84-93E8F22C0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CA1D3-40D2-8347-B575-DC041F38E38E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F60F3-0B16-53AD-6563-D01D1DEE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CF4DA-57AA-CF90-2CCE-6E961011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9538-E3FA-4047-A353-24FE77EE0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9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A8A8C-24C7-4A92-6354-82491C269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1F42D-CD91-14EA-CDCA-FBFDE0021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75145-1673-08E6-698C-540231BAE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6B2276-69C8-8DCC-75BE-CC7239B347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202291-7827-1F73-97BA-9F3770158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268CF5-33E3-0094-475E-B6CA70CF3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CA1D3-40D2-8347-B575-DC041F38E38E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57083B-E771-725D-850D-1104278C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E9894-653E-083B-26B4-A6046CDCE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9538-E3FA-4047-A353-24FE77EE0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7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64B33-3DC0-0194-0984-67F15DBC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39E17-C9A8-141F-EF5A-2C05D2063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CA1D3-40D2-8347-B575-DC041F38E38E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792529-2139-9769-90E8-2B100CC0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77EF8-4B74-B704-ACC1-1EF13C4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9538-E3FA-4047-A353-24FE77EE0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24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BF3AA7-D79C-CBA7-D66B-92160303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CA1D3-40D2-8347-B575-DC041F38E38E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ACFF37-2CB5-6FB5-D30C-B53F70458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BA219-7432-DBC3-402A-D373907B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9538-E3FA-4047-A353-24FE77EE0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87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B86E-2EB7-4384-4F3C-3D2A2FEA7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7AAC6-2A85-515F-0B64-097DF07F1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4AD2B-7A51-08C6-9138-C58852CF8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09CE3-446D-B24D-4C9E-35CD689CC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CA1D3-40D2-8347-B575-DC041F38E38E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F53E2-5BB4-3F30-A972-49EEAAFEB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E5F0F-EF48-DEBF-A9BA-658F1B6F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9538-E3FA-4047-A353-24FE77EE0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DF1C-44F7-9E40-7DFD-1199F32C0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A9B02-8053-81F2-8ABD-C5F4C6A72F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3445E-47B8-FDD2-C8D8-C6D7FAE16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02324-6516-A2C3-A97F-043A632B5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CA1D3-40D2-8347-B575-DC041F38E38E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5C5CA-42C9-12FC-A143-9B902B970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07AFA-208C-5C1A-54E7-56DCE489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9538-E3FA-4047-A353-24FE77EE0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36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CA546-D3A8-11D1-58B8-410F82614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C0692-B352-28BB-DA3C-9E72656BD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1E4D2-F60B-AF63-7160-17EF006D9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CA1D3-40D2-8347-B575-DC041F38E38E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D202A-4249-DA4D-C79D-58DA65BA3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C1CF4-362C-31B8-C6D8-21A57D869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9538-E3FA-4047-A353-24FE77EE0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30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65645C-20FA-C017-28E8-AA09CE862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4967C-A2C6-50E8-58E8-3C4A40095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264F5-EFF8-5E23-00FF-092FD01E4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CA1D3-40D2-8347-B575-DC041F38E38E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9CB8F-E73D-B8D2-6DD1-FAAD24E4E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17F16-5672-91FA-3C5E-3A9F1D9AB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9538-E3FA-4047-A353-24FE77EE0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51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69250C-EAFC-3DCD-2CE3-82CA22197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BC10A-9E35-38BC-6CDC-553BE32A3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30768-3E7B-549A-3380-48891C805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CA1D3-40D2-8347-B575-DC041F38E38E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3158-730A-7679-5FF7-72DF7E014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7DED5-4D89-51FC-4407-0D0190502C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79538-E3FA-4047-A353-24FE77EE0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679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5CFF8F-B381-C11E-BABE-AEA5F15D7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902908"/>
              </p:ext>
            </p:extLst>
          </p:nvPr>
        </p:nvGraphicFramePr>
        <p:xfrm>
          <a:off x="138954" y="1823775"/>
          <a:ext cx="7552764" cy="25761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380">
                  <a:extLst>
                    <a:ext uri="{9D8B030D-6E8A-4147-A177-3AD203B41FA5}">
                      <a16:colId xmlns:a16="http://schemas.microsoft.com/office/drawing/2014/main" val="2836560595"/>
                    </a:ext>
                  </a:extLst>
                </a:gridCol>
                <a:gridCol w="863173">
                  <a:extLst>
                    <a:ext uri="{9D8B030D-6E8A-4147-A177-3AD203B41FA5}">
                      <a16:colId xmlns:a16="http://schemas.microsoft.com/office/drawing/2014/main" val="1856625464"/>
                    </a:ext>
                  </a:extLst>
                </a:gridCol>
                <a:gridCol w="863173">
                  <a:extLst>
                    <a:ext uri="{9D8B030D-6E8A-4147-A177-3AD203B41FA5}">
                      <a16:colId xmlns:a16="http://schemas.microsoft.com/office/drawing/2014/main" val="2076392356"/>
                    </a:ext>
                  </a:extLst>
                </a:gridCol>
                <a:gridCol w="863173">
                  <a:extLst>
                    <a:ext uri="{9D8B030D-6E8A-4147-A177-3AD203B41FA5}">
                      <a16:colId xmlns:a16="http://schemas.microsoft.com/office/drawing/2014/main" val="383270627"/>
                    </a:ext>
                  </a:extLst>
                </a:gridCol>
                <a:gridCol w="863173">
                  <a:extLst>
                    <a:ext uri="{9D8B030D-6E8A-4147-A177-3AD203B41FA5}">
                      <a16:colId xmlns:a16="http://schemas.microsoft.com/office/drawing/2014/main" val="3054321097"/>
                    </a:ext>
                  </a:extLst>
                </a:gridCol>
                <a:gridCol w="863173">
                  <a:extLst>
                    <a:ext uri="{9D8B030D-6E8A-4147-A177-3AD203B41FA5}">
                      <a16:colId xmlns:a16="http://schemas.microsoft.com/office/drawing/2014/main" val="1284771075"/>
                    </a:ext>
                  </a:extLst>
                </a:gridCol>
                <a:gridCol w="863173">
                  <a:extLst>
                    <a:ext uri="{9D8B030D-6E8A-4147-A177-3AD203B41FA5}">
                      <a16:colId xmlns:a16="http://schemas.microsoft.com/office/drawing/2014/main" val="1658082996"/>
                    </a:ext>
                  </a:extLst>
                </a:gridCol>
                <a:gridCol w="863173">
                  <a:extLst>
                    <a:ext uri="{9D8B030D-6E8A-4147-A177-3AD203B41FA5}">
                      <a16:colId xmlns:a16="http://schemas.microsoft.com/office/drawing/2014/main" val="2834916377"/>
                    </a:ext>
                  </a:extLst>
                </a:gridCol>
                <a:gridCol w="863173">
                  <a:extLst>
                    <a:ext uri="{9D8B030D-6E8A-4147-A177-3AD203B41FA5}">
                      <a16:colId xmlns:a16="http://schemas.microsoft.com/office/drawing/2014/main" val="2370147697"/>
                    </a:ext>
                  </a:extLst>
                </a:gridCol>
              </a:tblGrid>
              <a:tr h="494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Date</a:t>
                      </a:r>
                      <a:endParaRPr lang="en-IN" sz="1100" b="1" i="0" u="none" strike="noStrike" dirty="0">
                        <a:solidFill>
                          <a:srgbClr val="002060"/>
                        </a:solidFill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Canada</a:t>
                      </a:r>
                      <a:endParaRPr lang="en-IN" sz="1100" b="1" i="0" u="none" strike="noStrike" dirty="0">
                        <a:solidFill>
                          <a:srgbClr val="002060"/>
                        </a:solidFill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Taiwan China</a:t>
                      </a:r>
                      <a:endParaRPr lang="en-IN" sz="1100" b="1" i="0" u="none" strike="noStrike" dirty="0">
                        <a:solidFill>
                          <a:srgbClr val="002060"/>
                        </a:solidFill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Hong Kong China</a:t>
                      </a:r>
                      <a:endParaRPr lang="en-IN" sz="1100" b="1" i="0" u="none" strike="noStrike" dirty="0">
                        <a:solidFill>
                          <a:srgbClr val="002060"/>
                        </a:solidFill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Japan</a:t>
                      </a:r>
                      <a:endParaRPr lang="en-IN" sz="1100" b="1" i="0" u="none" strike="noStrike" dirty="0">
                        <a:solidFill>
                          <a:srgbClr val="002060"/>
                        </a:solidFill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South Korea</a:t>
                      </a:r>
                      <a:endParaRPr lang="en-IN" sz="1100" b="1" i="0" u="none" strike="noStrike" dirty="0">
                        <a:solidFill>
                          <a:srgbClr val="002060"/>
                        </a:solidFill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Maldives</a:t>
                      </a:r>
                      <a:endParaRPr lang="en-IN" sz="1100" b="1" i="0" u="none" strike="noStrike" dirty="0">
                        <a:solidFill>
                          <a:srgbClr val="002060"/>
                        </a:solidFill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Thailand</a:t>
                      </a:r>
                      <a:endParaRPr lang="en-IN" sz="1100" b="1" i="0" u="none" strike="noStrike" dirty="0">
                        <a:solidFill>
                          <a:srgbClr val="002060"/>
                        </a:solidFill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Australia</a:t>
                      </a:r>
                      <a:endParaRPr lang="en-IN" sz="1100" b="1" i="0" u="none" strike="noStrike" dirty="0">
                        <a:solidFill>
                          <a:srgbClr val="002060"/>
                        </a:solidFill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extLst>
                  <a:ext uri="{0D108BD9-81ED-4DB2-BD59-A6C34878D82A}">
                    <a16:rowId xmlns:a16="http://schemas.microsoft.com/office/drawing/2014/main" val="2789410350"/>
                  </a:ext>
                </a:extLst>
              </a:tr>
              <a:tr h="4163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u="none" strike="noStrike" dirty="0">
                          <a:effectLst/>
                        </a:rPr>
                        <a:t>2019M06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73,620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260,919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4,000,994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880,651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475,007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23,983</a:t>
                      </a:r>
                      <a:endParaRPr lang="en-IN" sz="1000" b="1" i="0" u="none" strike="noStrike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836,742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80,680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extLst>
                  <a:ext uri="{0D108BD9-81ED-4DB2-BD59-A6C34878D82A}">
                    <a16:rowId xmlns:a16="http://schemas.microsoft.com/office/drawing/2014/main" val="2630233985"/>
                  </a:ext>
                </a:extLst>
              </a:tr>
              <a:tr h="4163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2019M07</a:t>
                      </a:r>
                      <a:endParaRPr lang="en-IN" sz="1000" b="1" i="0" u="none" strike="noStrike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99,114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322,444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4,160,688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1,050,420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519,132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32,569</a:t>
                      </a:r>
                      <a:endParaRPr lang="en-IN" sz="1000" b="1" i="0" u="none" strike="noStrike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983,808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150,390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extLst>
                  <a:ext uri="{0D108BD9-81ED-4DB2-BD59-A6C34878D82A}">
                    <a16:rowId xmlns:a16="http://schemas.microsoft.com/office/drawing/2014/main" val="250850959"/>
                  </a:ext>
                </a:extLst>
              </a:tr>
              <a:tr h="4163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2019M08</a:t>
                      </a:r>
                      <a:endParaRPr lang="en-IN" sz="1000" b="1" i="0" u="none" strike="noStrike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98,609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282,999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2,782,897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1,000,639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578,112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32,757</a:t>
                      </a:r>
                      <a:endParaRPr lang="en-IN" sz="1000" b="1" i="0" u="none" strike="noStrike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1,031,683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128,280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extLst>
                  <a:ext uri="{0D108BD9-81ED-4DB2-BD59-A6C34878D82A}">
                    <a16:rowId xmlns:a16="http://schemas.microsoft.com/office/drawing/2014/main" val="3187762198"/>
                  </a:ext>
                </a:extLst>
              </a:tr>
              <a:tr h="4163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2019M09</a:t>
                      </a:r>
                      <a:endParaRPr lang="en-IN" sz="1000" b="1" i="0" u="none" strike="noStrike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86,857</a:t>
                      </a:r>
                      <a:endParaRPr lang="en-IN" sz="1000" b="1" i="0" u="none" strike="noStrike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116,037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2,412,459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819,054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541,350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24,758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852,154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98,990</a:t>
                      </a:r>
                      <a:endParaRPr lang="en-IN" sz="1000" b="1" i="0" u="none" strike="noStrike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extLst>
                  <a:ext uri="{0D108BD9-81ED-4DB2-BD59-A6C34878D82A}">
                    <a16:rowId xmlns:a16="http://schemas.microsoft.com/office/drawing/2014/main" val="2512171720"/>
                  </a:ext>
                </a:extLst>
              </a:tr>
              <a:tr h="4163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u="none" strike="noStrike" dirty="0">
                          <a:effectLst/>
                        </a:rPr>
                        <a:t>2019M10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57,759</a:t>
                      </a:r>
                      <a:endParaRPr lang="en-IN" sz="1000" b="1" i="0" u="none" strike="noStrike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114,852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2,519,243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730,631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567,695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21,926</a:t>
                      </a:r>
                      <a:endParaRPr lang="en-IN" sz="1000" b="1" i="0" u="none" strike="noStrike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826,431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102,710</a:t>
                      </a:r>
                      <a:endParaRPr lang="en-IN" sz="1000" b="1" i="0" u="none" strike="noStrike" dirty="0">
                        <a:effectLst/>
                        <a:latin typeface="Carlito"/>
                      </a:endParaRPr>
                    </a:p>
                  </a:txBody>
                  <a:tcPr marL="9389" marR="9389" marT="9389" marB="0" anchor="ctr"/>
                </a:tc>
                <a:extLst>
                  <a:ext uri="{0D108BD9-81ED-4DB2-BD59-A6C34878D82A}">
                    <a16:rowId xmlns:a16="http://schemas.microsoft.com/office/drawing/2014/main" val="18576299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66B544E-F109-A43A-5D69-E96D8AE2203C}"/>
              </a:ext>
            </a:extLst>
          </p:cNvPr>
          <p:cNvSpPr txBox="1"/>
          <p:nvPr/>
        </p:nvSpPr>
        <p:spPr>
          <a:xfrm>
            <a:off x="138954" y="146958"/>
            <a:ext cx="779673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Forecasting Chinese Outbound Tourism Demand</a:t>
            </a:r>
          </a:p>
          <a:p>
            <a:endParaRPr lang="en-IN" b="1" dirty="0"/>
          </a:p>
          <a:p>
            <a:r>
              <a:rPr lang="en-IN" sz="1400" b="1" dirty="0"/>
              <a:t>ISF-TDF2023 | 12-Month Forecasting Project</a:t>
            </a:r>
            <a:endParaRPr lang="en-IN" sz="1400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B1932B-684F-EB8A-C679-4D5846A88A1F}"/>
              </a:ext>
            </a:extLst>
          </p:cNvPr>
          <p:cNvSpPr txBox="1"/>
          <p:nvPr/>
        </p:nvSpPr>
        <p:spPr>
          <a:xfrm>
            <a:off x="7796731" y="1378064"/>
            <a:ext cx="425631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Forecasting Objective</a:t>
            </a:r>
          </a:p>
          <a:p>
            <a:r>
              <a:rPr lang="en-IN" b="1" dirty="0"/>
              <a:t>20 destinations</a:t>
            </a:r>
            <a:br>
              <a:rPr lang="en-IN" dirty="0"/>
            </a:br>
            <a:r>
              <a:rPr lang="en-IN" sz="1600" dirty="0"/>
              <a:t>Monthly Chinese outbound tourism demand</a:t>
            </a:r>
          </a:p>
          <a:p>
            <a:endParaRPr lang="en-IN" dirty="0"/>
          </a:p>
          <a:p>
            <a:r>
              <a:rPr lang="en-IN" b="1" dirty="0"/>
              <a:t>Forecast horizon</a:t>
            </a:r>
            <a:br>
              <a:rPr lang="en-IN" dirty="0"/>
            </a:br>
            <a:r>
              <a:rPr lang="en-IN" sz="1600" dirty="0"/>
              <a:t>Aug 2023 – Jul 2024</a:t>
            </a:r>
          </a:p>
          <a:p>
            <a:endParaRPr lang="en-IN" dirty="0"/>
          </a:p>
          <a:p>
            <a:r>
              <a:rPr lang="en-IN" b="1" dirty="0"/>
              <a:t>Evaluation approach</a:t>
            </a:r>
            <a:br>
              <a:rPr lang="en-IN" dirty="0"/>
            </a:br>
            <a:r>
              <a:rPr lang="en-IN" sz="1600" dirty="0"/>
              <a:t>Cutoff-safe validation and comparative forecasting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5FC83C-F18E-EF14-D12B-F09543FE7BB7}"/>
              </a:ext>
            </a:extLst>
          </p:cNvPr>
          <p:cNvSpPr txBox="1"/>
          <p:nvPr/>
        </p:nvSpPr>
        <p:spPr>
          <a:xfrm>
            <a:off x="215153" y="1454443"/>
            <a:ext cx="1528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Sample Data</a:t>
            </a:r>
          </a:p>
        </p:txBody>
      </p:sp>
    </p:spTree>
    <p:extLst>
      <p:ext uri="{BB962C8B-B14F-4D97-AF65-F5344CB8AC3E}">
        <p14:creationId xmlns:p14="http://schemas.microsoft.com/office/powerpoint/2010/main" val="3051514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164592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Forecasting &amp; Validation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94944"/>
            <a:ext cx="7863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dirty="0">
                <a:solidFill>
                  <a:srgbClr val="6B7280"/>
                </a:solidFill>
                <a:latin typeface="Arial"/>
              </a:rPr>
              <a:t>Cutoff-safe design separates model selection from the final 12-month forecast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72768"/>
            <a:ext cx="5852159" cy="713232"/>
          </a:xfrm>
          <a:prstGeom prst="roundRect">
            <a:avLst/>
          </a:prstGeom>
          <a:solidFill>
            <a:srgbClr val="0B2E59"/>
          </a:solidFill>
          <a:ln>
            <a:solidFill>
              <a:srgbClr val="0B2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645920"/>
            <a:ext cx="5632703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HISTORICAL DATA /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920240"/>
            <a:ext cx="5632703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1989M01  →  2023M02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19672" y="1572768"/>
            <a:ext cx="1773936" cy="713232"/>
          </a:xfrm>
          <a:prstGeom prst="roundRect">
            <a:avLst/>
          </a:prstGeom>
          <a:solidFill>
            <a:srgbClr val="0B70C9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92824" y="1645920"/>
            <a:ext cx="16276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2824" y="1920240"/>
            <a:ext cx="162763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2023M03 → 2023M07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9912" y="1572768"/>
            <a:ext cx="3035808" cy="713232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13064" y="1645920"/>
            <a:ext cx="28895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FINAL 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4" y="1920240"/>
            <a:ext cx="288950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2023M08 → 2024M07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4120" y="1501120"/>
            <a:ext cx="27661" cy="8931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59" y="1078992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11111"/>
                </a:solidFill>
                <a:latin typeface="Arial"/>
              </a:rPr>
              <a:t>Validation cutoff</a:t>
            </a:r>
            <a:br/>
            <a:r>
              <a:t>Feb 2023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501120"/>
            <a:ext cx="22860" cy="8931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1078992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11111"/>
                </a:solidFill>
                <a:latin typeface="Arial"/>
              </a:rPr>
              <a:t>Final cutoff</a:t>
            </a:r>
            <a:br/>
            <a:r>
              <a:t>Jul 2023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834640"/>
            <a:ext cx="233172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" y="2939181"/>
            <a:ext cx="2075687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250" b="1" dirty="0">
                <a:solidFill>
                  <a:srgbClr val="0B2E59"/>
                </a:solidFill>
                <a:latin typeface="Arial"/>
              </a:rPr>
              <a:t>A</a:t>
            </a:r>
            <a:r>
              <a:rPr sz="1250" b="1" dirty="0">
                <a:solidFill>
                  <a:srgbClr val="0B2E59"/>
                </a:solidFill>
                <a:latin typeface="Arial"/>
              </a:rPr>
              <a:t>  Training cutoff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3282696"/>
            <a:ext cx="207568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11111"/>
                </a:solidFill>
                <a:latin typeface="Arial"/>
              </a:rPr>
              <a:t>Use observations only</a:t>
            </a:r>
            <a:br/>
            <a:r>
              <a:t>through Feb 2023.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99232" y="2834640"/>
            <a:ext cx="233172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27248" y="2939181"/>
            <a:ext cx="2075687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250" b="1" dirty="0">
                <a:solidFill>
                  <a:srgbClr val="0B2E59"/>
                </a:solidFill>
                <a:latin typeface="Arial"/>
              </a:rPr>
              <a:t>B</a:t>
            </a:r>
            <a:r>
              <a:rPr sz="1250" b="1" dirty="0">
                <a:solidFill>
                  <a:srgbClr val="0B2E59"/>
                </a:solidFill>
                <a:latin typeface="Arial"/>
              </a:rPr>
              <a:t>  5-month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7248" y="3282696"/>
            <a:ext cx="207568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11111"/>
                </a:solidFill>
                <a:latin typeface="Arial"/>
              </a:rPr>
              <a:t>Forecast Mar–Jul 2023</a:t>
            </a:r>
            <a:br/>
            <a:r>
              <a:t>and compare with actuals.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95544" y="2834640"/>
            <a:ext cx="233172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23559" y="2939181"/>
            <a:ext cx="2075687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250" b="1" dirty="0">
                <a:solidFill>
                  <a:srgbClr val="0B2E59"/>
                </a:solidFill>
                <a:latin typeface="Arial"/>
              </a:rPr>
              <a:t>C</a:t>
            </a:r>
            <a:r>
              <a:rPr sz="1250" b="1" dirty="0">
                <a:solidFill>
                  <a:srgbClr val="0B2E59"/>
                </a:solidFill>
                <a:latin typeface="Arial"/>
              </a:rPr>
              <a:t>  Final model refit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59" y="3282696"/>
            <a:ext cx="207568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11111"/>
                </a:solidFill>
                <a:latin typeface="Arial"/>
              </a:rPr>
              <a:t>Use public history</a:t>
            </a:r>
            <a:br/>
            <a:r>
              <a:t>through Jul 2023.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2834640"/>
            <a:ext cx="233172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19872" y="2939181"/>
            <a:ext cx="2075687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dirty="0">
                <a:solidFill>
                  <a:srgbClr val="0B2E59"/>
                </a:solidFill>
                <a:latin typeface="Arial"/>
              </a:rPr>
              <a:t>  12-month forecast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3282696"/>
            <a:ext cx="207568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11111"/>
                </a:solidFill>
                <a:latin typeface="Arial"/>
              </a:rPr>
              <a:t>Generate Aug 2023–</a:t>
            </a:r>
            <a:br/>
            <a:r>
              <a:t>Jul 2024 forecasts.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617969"/>
            <a:ext cx="8183879" cy="713232"/>
          </a:xfrm>
          <a:prstGeom prst="roundRect">
            <a:avLst/>
          </a:prstGeom>
          <a:solidFill>
            <a:srgbClr val="E8F2FA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4736841"/>
            <a:ext cx="7772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B2E59"/>
                </a:solidFill>
                <a:latin typeface="Arial"/>
              </a:rPr>
              <a:t>Cutoff-safe design: future observations are not used to generate earlier forecasts.</a:t>
            </a:r>
          </a:p>
        </p:txBody>
      </p:sp>
    </p:spTree>
    <p:extLst>
      <p:ext uri="{BB962C8B-B14F-4D97-AF65-F5344CB8AC3E}">
        <p14:creationId xmlns:p14="http://schemas.microsoft.com/office/powerpoint/2010/main" val="2255141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164592"/>
            <a:ext cx="8686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B2E59"/>
                </a:solidFill>
                <a:latin typeface="Arial"/>
              </a:rPr>
              <a:t>Baseline Forecasting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714792"/>
            <a:ext cx="80467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6B7280"/>
                </a:solidFill>
                <a:latin typeface="Arial"/>
              </a:rPr>
              <a:t>Two simple benchmarks establish the reference point for improved forecasting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4636008" cy="3127248"/>
          </a:xfrm>
          <a:prstGeom prst="roundRect">
            <a:avLst/>
          </a:prstGeom>
          <a:solidFill>
            <a:srgbClr val="E8F2FA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536192"/>
            <a:ext cx="4480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B2E59"/>
                </a:solidFill>
                <a:latin typeface="Arial"/>
              </a:rPr>
              <a:t>M1 — Naive Lag-1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5740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0B70C9"/>
                </a:solidFill>
                <a:latin typeface="Arial"/>
              </a:rPr>
              <a:t>ŷ(t+h) = y(t)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70632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Arial"/>
              </a:rPr>
              <a:t>Recent-level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160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11111"/>
                </a:solidFill>
                <a:latin typeface="Arial"/>
              </a:rPr>
              <a:t>Carries the latest available demand level</a:t>
            </a:r>
            <a:br/>
            <a:r>
              <a:t>forward across the forecast horizon.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242816"/>
            <a:ext cx="1325880" cy="22860"/>
          </a:xfrm>
          <a:prstGeom prst="rect">
            <a:avLst/>
          </a:prstGeom>
          <a:solidFill>
            <a:srgbClr val="0B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14600" y="4242816"/>
            <a:ext cx="1325880" cy="22860"/>
          </a:xfrm>
          <a:prstGeom prst="rect">
            <a:avLst/>
          </a:prstGeom>
          <a:solidFill>
            <a:srgbClr val="0B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0" y="4242816"/>
            <a:ext cx="502920" cy="22860"/>
          </a:xfrm>
          <a:prstGeom prst="rect">
            <a:avLst/>
          </a:prstGeom>
          <a:solidFill>
            <a:srgbClr val="0B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242816"/>
            <a:ext cx="32461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dirty="0">
                <a:solidFill>
                  <a:srgbClr val="6B7280"/>
                </a:solidFill>
                <a:latin typeface="Arial"/>
              </a:rPr>
              <a:t>latest level carried forward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298448"/>
            <a:ext cx="4805979" cy="3346704"/>
          </a:xfrm>
          <a:prstGeom prst="roundRect">
            <a:avLst/>
          </a:prstGeom>
          <a:solidFill>
            <a:srgbClr val="EAF4E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61888" y="1536192"/>
            <a:ext cx="4480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B2E59"/>
                </a:solidFill>
                <a:latin typeface="Arial"/>
              </a:rPr>
              <a:t>M2 — Naive Lag-12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05740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E7D32"/>
                </a:solidFill>
                <a:latin typeface="Arial"/>
              </a:rPr>
              <a:t>ŷ(t) = y(t−12)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2770632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Arial"/>
              </a:rPr>
              <a:t>Seasonal 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200400"/>
            <a:ext cx="4160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11111"/>
                </a:solidFill>
                <a:latin typeface="Arial"/>
              </a:rPr>
              <a:t>Uses demand from the corresponding month</a:t>
            </a:r>
            <a:br/>
            <a:r>
              <a:t>one year earlier.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4178808"/>
            <a:ext cx="182880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13448" y="4023360"/>
            <a:ext cx="18288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88936" y="4123944"/>
            <a:ext cx="182880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64424" y="3913632"/>
            <a:ext cx="182880" cy="4297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39912" y="4087368"/>
            <a:ext cx="18288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15400" y="3977639"/>
            <a:ext cx="18288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75320" y="4178808"/>
            <a:ext cx="182880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718534" y="4023360"/>
            <a:ext cx="18288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226296" y="4123944"/>
            <a:ext cx="182880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37192" y="3922776"/>
            <a:ext cx="182880" cy="4297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866376" y="4066927"/>
            <a:ext cx="18288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177272" y="3995928"/>
            <a:ext cx="18288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4425696"/>
            <a:ext cx="3474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Arial"/>
              </a:rPr>
              <a:t>annual pattern repeated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138928"/>
            <a:ext cx="8092440" cy="749808"/>
          </a:xfrm>
          <a:prstGeom prst="roundRect">
            <a:avLst/>
          </a:prstGeom>
          <a:solidFill>
            <a:srgbClr val="F3F5F7"/>
          </a:solidFill>
          <a:ln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5266944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0B2E59"/>
                </a:solidFill>
                <a:latin typeface="Arial"/>
              </a:rPr>
              <a:t>Purpose: establish simple reference models before developing and comparing improved forecasting methods.</a:t>
            </a:r>
          </a:p>
        </p:txBody>
      </p:sp>
    </p:spTree>
    <p:extLst>
      <p:ext uri="{BB962C8B-B14F-4D97-AF65-F5344CB8AC3E}">
        <p14:creationId xmlns:p14="http://schemas.microsoft.com/office/powerpoint/2010/main" val="1715356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164592"/>
            <a:ext cx="9326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2E59"/>
                </a:solidFill>
                <a:latin typeface="Arial"/>
              </a:rPr>
              <a:t>EDA — Tourism Demand Before and After COVID-19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694944"/>
            <a:ext cx="8595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Arial"/>
              </a:rPr>
              <a:t>Destination series show strong seasonality, different demand scales, and a major structural break.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43000"/>
            <a:ext cx="8641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09-24 at 7.45.19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4024"/>
            <a:ext cx="8394192" cy="400936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89720" y="1234440"/>
            <a:ext cx="2468880" cy="914400"/>
          </a:xfrm>
          <a:prstGeom prst="roundRect">
            <a:avLst/>
          </a:prstGeom>
          <a:solidFill>
            <a:srgbClr val="E8F2FA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00032" y="1389888"/>
            <a:ext cx="2057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2E59"/>
                </a:solidFill>
                <a:latin typeface="Arial"/>
              </a:rPr>
              <a:t>Strong pre-COVID</a:t>
            </a:r>
            <a:br/>
            <a:r>
              <a:t>trend &amp; seasonality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2331720"/>
            <a:ext cx="2468880" cy="914400"/>
          </a:xfrm>
          <a:prstGeom prst="roundRect">
            <a:avLst/>
          </a:prstGeom>
          <a:solidFill>
            <a:srgbClr val="FDEEEC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00032" y="2487168"/>
            <a:ext cx="2057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C62828"/>
                </a:solidFill>
                <a:latin typeface="Arial"/>
              </a:rPr>
              <a:t>Sharp COVID-19</a:t>
            </a:r>
            <a:br/>
            <a:r>
              <a:t>structural break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3429000"/>
            <a:ext cx="2468880" cy="914400"/>
          </a:xfrm>
          <a:prstGeom prst="roundRect">
            <a:avLst/>
          </a:prstGeom>
          <a:solidFill>
            <a:srgbClr val="F3F5F7"/>
          </a:solidFill>
          <a:ln>
            <a:solidFill>
              <a:srgbClr val="B8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00032" y="3584448"/>
            <a:ext cx="2057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2E59"/>
                </a:solidFill>
                <a:latin typeface="Arial"/>
              </a:rPr>
              <a:t>Uneven recovery</a:t>
            </a:r>
            <a:br/>
            <a:r>
              <a:t>across destinations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742432"/>
            <a:ext cx="8092440" cy="658368"/>
          </a:xfrm>
          <a:prstGeom prst="roundRect">
            <a:avLst/>
          </a:prstGeom>
          <a:solidFill>
            <a:srgbClr val="F3F5F7"/>
          </a:solidFill>
          <a:ln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5833872"/>
            <a:ext cx="7589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B2E59"/>
                </a:solidFill>
                <a:latin typeface="Arial"/>
              </a:rPr>
              <a:t>Implication: simple historical patterns may be unreliable during the post-COVID recovery period.</a:t>
            </a:r>
          </a:p>
        </p:txBody>
      </p:sp>
    </p:spTree>
    <p:extLst>
      <p:ext uri="{BB962C8B-B14F-4D97-AF65-F5344CB8AC3E}">
        <p14:creationId xmlns:p14="http://schemas.microsoft.com/office/powerpoint/2010/main" val="1818741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164592"/>
            <a:ext cx="9326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2E59"/>
                </a:solidFill>
                <a:latin typeface="Arial"/>
              </a:rPr>
              <a:t>Missing Data &amp; Cutoff-Safe Imputation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694944"/>
            <a:ext cx="8686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Arial"/>
              </a:rPr>
              <a:t>Only internal gaps were interpolated; leading missing history was retained.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43000"/>
            <a:ext cx="8001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09-24 at 7.45.00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934" y="1280160"/>
            <a:ext cx="6286082" cy="42336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41080" y="1207008"/>
            <a:ext cx="2971800" cy="3611880"/>
          </a:xfrm>
          <a:prstGeom prst="roundRect">
            <a:avLst/>
          </a:prstGeom>
          <a:solidFill>
            <a:srgbClr val="E8F2FA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87968" y="1417320"/>
            <a:ext cx="24871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2E59"/>
                </a:solidFill>
                <a:latin typeface="Arial"/>
              </a:rPr>
              <a:t>24 internal missing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2832" y="1993392"/>
            <a:ext cx="2359152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Chile       15</a:t>
            </a:r>
            <a:br/>
            <a:r>
              <a:t>Maldives     3</a:t>
            </a:r>
            <a:br/>
            <a:r>
              <a:t>Thailand    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3182112"/>
            <a:ext cx="24871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2E59"/>
                </a:solidFill>
                <a:latin typeface="Arial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3584448"/>
            <a:ext cx="2487168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Arial"/>
              </a:rPr>
              <a:t>Linear interpolation</a:t>
            </a:r>
            <a:br/>
            <a:r>
              <a:t>within observed span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742432"/>
            <a:ext cx="8092440" cy="658368"/>
          </a:xfrm>
          <a:prstGeom prst="roundRect">
            <a:avLst/>
          </a:prstGeom>
          <a:solidFill>
            <a:srgbClr val="FDEEEC"/>
          </a:solidFill>
          <a:ln>
            <a:solidFill>
              <a:srgbClr val="E5A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76352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62828"/>
                </a:solidFill>
                <a:latin typeface="Arial"/>
              </a:rPr>
              <a:t>Limitation: long gaps during COVID may not follow a linear trajectory, so imputed values add modelling uncertainty.</a:t>
            </a:r>
          </a:p>
        </p:txBody>
      </p:sp>
    </p:spTree>
    <p:extLst>
      <p:ext uri="{BB962C8B-B14F-4D97-AF65-F5344CB8AC3E}">
        <p14:creationId xmlns:p14="http://schemas.microsoft.com/office/powerpoint/2010/main" val="718140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0361" y="97013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2E59"/>
                </a:solidFill>
                <a:latin typeface="Arial"/>
              </a:rPr>
              <a:t>From Baselines to Improved Forecasting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570494"/>
            <a:ext cx="88696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00B050"/>
                </a:solidFill>
                <a:latin typeface="Arial"/>
              </a:rPr>
              <a:t>Eight candidates span simple benchmarks, recovery-aware methods, classical forecasting and a pretrained foundation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2423160" cy="3383280"/>
          </a:xfrm>
          <a:prstGeom prst="roundRect">
            <a:avLst/>
          </a:prstGeom>
          <a:solidFill>
            <a:srgbClr val="E8F2FA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1399031"/>
            <a:ext cx="20939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2E59"/>
                </a:solidFill>
                <a:latin typeface="Arial"/>
              </a:rPr>
              <a:t>Baselines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47088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20" b="1">
                <a:solidFill>
                  <a:srgbClr val="0B70C9"/>
                </a:solidFill>
                <a:latin typeface="Arial"/>
              </a:rPr>
              <a:t>M1  Naive Lag-1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93976"/>
            <a:ext cx="2057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11111"/>
                </a:solidFill>
                <a:latin typeface="Arial"/>
              </a:rPr>
              <a:t>Recent level carried forward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15768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20" b="1">
                <a:solidFill>
                  <a:srgbClr val="0B70C9"/>
                </a:solidFill>
                <a:latin typeface="Arial"/>
              </a:rPr>
              <a:t>M2  Naive Lag-12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62656"/>
            <a:ext cx="2057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11111"/>
                </a:solidFill>
                <a:latin typeface="Arial"/>
              </a:rPr>
              <a:t>Same month from previous 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280160"/>
            <a:ext cx="2423160" cy="3383280"/>
          </a:xfrm>
          <a:prstGeom prst="roundRect">
            <a:avLst/>
          </a:prstGeom>
          <a:solidFill>
            <a:srgbClr val="EAF4E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82112" y="1399031"/>
            <a:ext cx="20939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2E59"/>
                </a:solidFill>
                <a:latin typeface="Arial"/>
              </a:rPr>
              <a:t>Recovery-aware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847088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20" b="1">
                <a:solidFill>
                  <a:srgbClr val="2E7D32"/>
                </a:solidFill>
                <a:latin typeface="Arial"/>
              </a:rPr>
              <a:t>M3  Seasonal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093976"/>
            <a:ext cx="2057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11111"/>
                </a:solidFill>
                <a:latin typeface="Arial"/>
              </a:rPr>
              <a:t>Annual seasonality + recovery adjustment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15768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20" b="1">
                <a:solidFill>
                  <a:srgbClr val="2E7D32"/>
                </a:solidFill>
                <a:latin typeface="Arial"/>
              </a:rPr>
              <a:t>M4  Blended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62656"/>
            <a:ext cx="2057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11111"/>
                </a:solidFill>
                <a:latin typeface="Arial"/>
              </a:rPr>
              <a:t>Recent-level anchor + recovery forecast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1280160"/>
            <a:ext cx="2880360" cy="3383280"/>
          </a:xfrm>
          <a:prstGeom prst="roundRect">
            <a:avLst/>
          </a:prstGeom>
          <a:solidFill>
            <a:srgbClr val="FEF3E2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88152" y="1399031"/>
            <a:ext cx="25511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2E59"/>
                </a:solidFill>
                <a:latin typeface="Arial"/>
              </a:rPr>
              <a:t>Classical / Statistical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847088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20" b="1">
                <a:solidFill>
                  <a:srgbClr val="D97706"/>
                </a:solidFill>
                <a:latin typeface="Arial"/>
              </a:rPr>
              <a:t>M5  SARIMA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093976"/>
            <a:ext cx="2514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11111"/>
                </a:solidFill>
                <a:latin typeface="Arial"/>
              </a:rPr>
              <a:t>Trend + autoregressive + seasonal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715768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20" b="1">
                <a:solidFill>
                  <a:srgbClr val="D97706"/>
                </a:solidFill>
                <a:latin typeface="Arial"/>
              </a:rPr>
              <a:t>M6  Prophet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962656"/>
            <a:ext cx="2514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11111"/>
                </a:solidFill>
                <a:latin typeface="Arial"/>
              </a:rPr>
              <a:t>Trend with yearly seasonality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584448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20" b="1">
                <a:solidFill>
                  <a:srgbClr val="D97706"/>
                </a:solidFill>
                <a:latin typeface="Arial"/>
              </a:rPr>
              <a:t>M8  Holt-Winters Ensemble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831335"/>
            <a:ext cx="2514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11111"/>
                </a:solidFill>
                <a:latin typeface="Arial"/>
              </a:rPr>
              <a:t>Level, trend &amp; seasonality + recovery blend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280160"/>
            <a:ext cx="2423160" cy="3383280"/>
          </a:xfrm>
          <a:prstGeom prst="roundRect">
            <a:avLst/>
          </a:prstGeom>
          <a:solidFill>
            <a:srgbClr val="F1ECFA"/>
          </a:solidFill>
          <a:ln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51392" y="1399031"/>
            <a:ext cx="20939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B2E59"/>
                </a:solidFill>
                <a:latin typeface="Arial"/>
              </a:rPr>
              <a:t>Foundation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1847088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20" b="1">
                <a:solidFill>
                  <a:srgbClr val="6B46C1"/>
                </a:solidFill>
                <a:latin typeface="Arial"/>
              </a:rPr>
              <a:t>M7  TimesFM 2.5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2291572"/>
            <a:ext cx="205740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dirty="0">
                <a:solidFill>
                  <a:srgbClr val="111111"/>
                </a:solidFill>
                <a:latin typeface="+mj-lt"/>
              </a:rPr>
              <a:t>Pretrained time-series model</a:t>
            </a:r>
            <a:br>
              <a:rPr sz="1400" dirty="0">
                <a:latin typeface="+mj-lt"/>
              </a:rPr>
            </a:br>
            <a:r>
              <a:rPr sz="1400" dirty="0">
                <a:latin typeface="+mj-lt"/>
              </a:rPr>
              <a:t>used in zero-shot mode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834640" y="2880360"/>
            <a:ext cx="182880" cy="0"/>
          </a:xfrm>
          <a:prstGeom prst="line">
            <a:avLst/>
          </a:prstGeom>
          <a:ln w="2286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40680" y="2880360"/>
            <a:ext cx="182880" cy="0"/>
          </a:xfrm>
          <a:prstGeom prst="line">
            <a:avLst/>
          </a:prstGeom>
          <a:ln w="2286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03920" y="2880360"/>
            <a:ext cx="182880" cy="0"/>
          </a:xfrm>
          <a:prstGeom prst="line">
            <a:avLst/>
          </a:prstGeom>
          <a:ln w="2286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02920" y="5074920"/>
            <a:ext cx="8092440" cy="804672"/>
          </a:xfrm>
          <a:prstGeom prst="roundRect">
            <a:avLst/>
          </a:prstGeom>
          <a:solidFill>
            <a:srgbClr val="F3F5F7"/>
          </a:solidFill>
          <a:ln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193792"/>
            <a:ext cx="7635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0B2E59"/>
                </a:solidFill>
                <a:latin typeface="Arial"/>
              </a:rPr>
              <a:t>Comparison strategy: test whether recovery-aware and fitted models improve on the two simple naive benchmarks under the same cutoff-safe validation window.</a:t>
            </a:r>
          </a:p>
        </p:txBody>
      </p:sp>
    </p:spTree>
    <p:extLst>
      <p:ext uri="{BB962C8B-B14F-4D97-AF65-F5344CB8AC3E}">
        <p14:creationId xmlns:p14="http://schemas.microsoft.com/office/powerpoint/2010/main" val="1222892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9052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50" b="1">
                <a:solidFill>
                  <a:srgbClr val="0B2E59"/>
                </a:solidFill>
                <a:latin typeface="Arial"/>
              </a:rPr>
              <a:t>Official Validation Results — Mar–Jul 2023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640080"/>
            <a:ext cx="8686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676D75"/>
                </a:solidFill>
                <a:latin typeface="Arial"/>
              </a:rPr>
              <a:t>Aggregate performance across all 20 destinations under the prescribed cutoff-safe validation window.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32519" y="256032"/>
            <a:ext cx="2702859" cy="749808"/>
          </a:xfrm>
          <a:prstGeom prst="roundRect">
            <a:avLst/>
          </a:prstGeom>
          <a:solidFill>
            <a:srgbClr val="ECF4FB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87968" y="345963"/>
            <a:ext cx="2432304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7030A0"/>
                </a:solidFill>
                <a:latin typeface="Arial"/>
              </a:rPr>
              <a:t>Lower values indicate better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207008"/>
            <a:ext cx="3401568" cy="457200"/>
          </a:xfrm>
          <a:prstGeom prst="rect">
            <a:avLst/>
          </a:prstGeom>
          <a:solidFill>
            <a:srgbClr val="0B2E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" y="1225296"/>
            <a:ext cx="3291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4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207008"/>
            <a:ext cx="1389888" cy="457200"/>
          </a:xfrm>
          <a:prstGeom prst="rect">
            <a:avLst/>
          </a:prstGeom>
          <a:solidFill>
            <a:srgbClr val="0B2E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95344" y="1225296"/>
            <a:ext cx="1280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Arial"/>
              </a:rPr>
              <a:t>Mean MASE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30368" y="1207008"/>
            <a:ext cx="1444752" cy="457200"/>
          </a:xfrm>
          <a:prstGeom prst="rect">
            <a:avLst/>
          </a:prstGeom>
          <a:solidFill>
            <a:srgbClr val="0B2E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85232" y="1225296"/>
            <a:ext cx="13350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Arial"/>
              </a:rPr>
              <a:t>Median MASE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207008"/>
            <a:ext cx="1417320" cy="457200"/>
          </a:xfrm>
          <a:prstGeom prst="rect">
            <a:avLst/>
          </a:prstGeom>
          <a:solidFill>
            <a:srgbClr val="0B2E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9984" y="1225296"/>
            <a:ext cx="1307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Arial"/>
              </a:rPr>
              <a:t>Mean MAPE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1664208"/>
            <a:ext cx="3401568" cy="457200"/>
          </a:xfrm>
          <a:prstGeom prst="rect">
            <a:avLst/>
          </a:prstGeom>
          <a:solidFill>
            <a:srgbClr val="E9F5EA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" y="1682496"/>
            <a:ext cx="3291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40" b="1">
                <a:solidFill>
                  <a:srgbClr val="2E7D32"/>
                </a:solidFill>
                <a:latin typeface="Arial"/>
              </a:rPr>
              <a:t>M4  Blended Recovery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664208"/>
            <a:ext cx="1389888" cy="457200"/>
          </a:xfrm>
          <a:prstGeom prst="rect">
            <a:avLst/>
          </a:prstGeom>
          <a:solidFill>
            <a:srgbClr val="E9F5EA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95344" y="1682496"/>
            <a:ext cx="1280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1">
                <a:solidFill>
                  <a:srgbClr val="2E7D32"/>
                </a:solidFill>
                <a:latin typeface="Arial"/>
              </a:rPr>
              <a:t>2.48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30368" y="1664208"/>
            <a:ext cx="1444752" cy="457200"/>
          </a:xfrm>
          <a:prstGeom prst="rect">
            <a:avLst/>
          </a:prstGeom>
          <a:solidFill>
            <a:srgbClr val="E9F5EA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85232" y="1682496"/>
            <a:ext cx="13350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1">
                <a:solidFill>
                  <a:srgbClr val="2E7D32"/>
                </a:solidFill>
                <a:latin typeface="Arial"/>
              </a:rPr>
              <a:t>1.53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664208"/>
            <a:ext cx="1417320" cy="457200"/>
          </a:xfrm>
          <a:prstGeom prst="rect">
            <a:avLst/>
          </a:prstGeom>
          <a:solidFill>
            <a:srgbClr val="E9F5EA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9984" y="1682496"/>
            <a:ext cx="1307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1">
                <a:solidFill>
                  <a:srgbClr val="2E7D32"/>
                </a:solidFill>
                <a:latin typeface="Arial"/>
              </a:rPr>
              <a:t>42.84%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2121408"/>
            <a:ext cx="34015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6" y="2139696"/>
            <a:ext cx="3291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40" b="0">
                <a:solidFill>
                  <a:srgbClr val="161A1D"/>
                </a:solidFill>
                <a:latin typeface="Arial"/>
              </a:rPr>
              <a:t>M8  Holt-Winters Ensemble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2121408"/>
            <a:ext cx="138988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95344" y="2139696"/>
            <a:ext cx="1280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2.59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2121408"/>
            <a:ext cx="1444752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85232" y="2139696"/>
            <a:ext cx="13350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2.01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121408"/>
            <a:ext cx="1417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9984" y="2139696"/>
            <a:ext cx="1307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43.82%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" y="2578608"/>
            <a:ext cx="3401568" cy="457200"/>
          </a:xfrm>
          <a:prstGeom prst="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3776" y="2596896"/>
            <a:ext cx="3291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40" b="0">
                <a:solidFill>
                  <a:srgbClr val="161A1D"/>
                </a:solidFill>
                <a:latin typeface="Arial"/>
              </a:rPr>
              <a:t>M7  TimesFM 2.5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2578608"/>
            <a:ext cx="1389888" cy="457200"/>
          </a:xfrm>
          <a:prstGeom prst="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95344" y="2596896"/>
            <a:ext cx="1280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2.61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30368" y="2578608"/>
            <a:ext cx="1444752" cy="457200"/>
          </a:xfrm>
          <a:prstGeom prst="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85232" y="2596896"/>
            <a:ext cx="13350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2.00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2578608"/>
            <a:ext cx="14173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29984" y="2596896"/>
            <a:ext cx="1307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44.29%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" y="3035808"/>
            <a:ext cx="34015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6" y="3054096"/>
            <a:ext cx="3291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40" b="0">
                <a:solidFill>
                  <a:srgbClr val="161A1D"/>
                </a:solidFill>
                <a:latin typeface="Arial"/>
              </a:rPr>
              <a:t>M1  Naive Lag-1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3035808"/>
            <a:ext cx="138988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95344" y="3054096"/>
            <a:ext cx="1280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2.67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30368" y="3035808"/>
            <a:ext cx="1444752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85232" y="3054096"/>
            <a:ext cx="13350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1.70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3035808"/>
            <a:ext cx="1417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29984" y="3054096"/>
            <a:ext cx="1307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48.06%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" y="3493008"/>
            <a:ext cx="3401568" cy="457200"/>
          </a:xfrm>
          <a:prstGeom prst="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3776" y="3511296"/>
            <a:ext cx="3291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40" b="0">
                <a:solidFill>
                  <a:srgbClr val="161A1D"/>
                </a:solidFill>
                <a:latin typeface="Arial"/>
              </a:rPr>
              <a:t>M3  Seasonal Recovery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3493008"/>
            <a:ext cx="1389888" cy="457200"/>
          </a:xfrm>
          <a:prstGeom prst="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895344" y="3511296"/>
            <a:ext cx="1280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2.71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30368" y="3493008"/>
            <a:ext cx="1444752" cy="457200"/>
          </a:xfrm>
          <a:prstGeom prst="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285232" y="3511296"/>
            <a:ext cx="13350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1.62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3493008"/>
            <a:ext cx="14173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29984" y="3511296"/>
            <a:ext cx="1307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45.72%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8912" y="3950208"/>
            <a:ext cx="34015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3776" y="3968496"/>
            <a:ext cx="3291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40" b="0">
                <a:solidFill>
                  <a:srgbClr val="161A1D"/>
                </a:solidFill>
                <a:latin typeface="Arial"/>
              </a:rPr>
              <a:t>M5  SARIMA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0" y="3950208"/>
            <a:ext cx="138988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895344" y="3968496"/>
            <a:ext cx="1280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2.96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30368" y="3950208"/>
            <a:ext cx="1444752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285232" y="3968496"/>
            <a:ext cx="13350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2.65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75120" y="3950208"/>
            <a:ext cx="1417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729984" y="3968496"/>
            <a:ext cx="1307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54.59%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8912" y="4407408"/>
            <a:ext cx="3401568" cy="457200"/>
          </a:xfrm>
          <a:prstGeom prst="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93776" y="4425696"/>
            <a:ext cx="3291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40" b="0">
                <a:solidFill>
                  <a:srgbClr val="161A1D"/>
                </a:solidFill>
                <a:latin typeface="Arial"/>
              </a:rPr>
              <a:t>M6  Prophet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40480" y="4407408"/>
            <a:ext cx="1389888" cy="457200"/>
          </a:xfrm>
          <a:prstGeom prst="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895344" y="4425696"/>
            <a:ext cx="1280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4.07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30368" y="4407408"/>
            <a:ext cx="1444752" cy="457200"/>
          </a:xfrm>
          <a:prstGeom prst="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285232" y="4425696"/>
            <a:ext cx="13350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2.63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75120" y="4407408"/>
            <a:ext cx="14173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729984" y="4425696"/>
            <a:ext cx="1307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73.75%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8912" y="4864608"/>
            <a:ext cx="34015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93776" y="4882896"/>
            <a:ext cx="3291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40" b="0">
                <a:solidFill>
                  <a:srgbClr val="161A1D"/>
                </a:solidFill>
                <a:latin typeface="Arial"/>
              </a:rPr>
              <a:t>M2  Naive Lag-12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40480" y="4864608"/>
            <a:ext cx="138988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895344" y="4882896"/>
            <a:ext cx="1280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4.41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30368" y="4864608"/>
            <a:ext cx="1444752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285232" y="4882896"/>
            <a:ext cx="13350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3.83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75120" y="4864608"/>
            <a:ext cx="1417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729984" y="4882896"/>
            <a:ext cx="1307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40" b="0">
                <a:solidFill>
                  <a:srgbClr val="161A1D"/>
                </a:solidFill>
                <a:latin typeface="Arial"/>
              </a:rPr>
              <a:t>77.90%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12480" y="1335024"/>
            <a:ext cx="2907792" cy="2926080"/>
          </a:xfrm>
          <a:prstGeom prst="roundRect">
            <a:avLst/>
          </a:prstGeom>
          <a:solidFill>
            <a:srgbClr val="E9F5E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641080" y="1536192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20" b="1">
                <a:solidFill>
                  <a:srgbClr val="2E7D32"/>
                </a:solidFill>
                <a:latin typeface="Arial"/>
              </a:rPr>
              <a:t>Validation leader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13648" y="1938528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30" b="1">
                <a:solidFill>
                  <a:srgbClr val="0B2E59"/>
                </a:solidFill>
                <a:latin typeface="Arial"/>
              </a:rPr>
              <a:t>M4  Blended Recovery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32520" y="251460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Arial"/>
              </a:rPr>
              <a:t>2.48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03536" y="251460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Arial"/>
              </a:rPr>
              <a:t>1.53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41080" y="2852928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676D75"/>
                </a:solidFill>
                <a:latin typeface="Arial"/>
              </a:rPr>
              <a:t>Mean MASE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21240" y="2852928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676D75"/>
                </a:solidFill>
                <a:latin typeface="Arial"/>
              </a:rPr>
              <a:t>Median MASE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35440" y="3310128"/>
            <a:ext cx="1143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E7D32"/>
                </a:solidFill>
                <a:latin typeface="Arial"/>
              </a:rPr>
              <a:t>42.84%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87968" y="363931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676D75"/>
                </a:solidFill>
                <a:latin typeface="Arial"/>
              </a:rPr>
              <a:t>Mean MAPE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41080" y="3931920"/>
            <a:ext cx="248716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0B2E59"/>
                </a:solidFill>
                <a:latin typeface="Arial"/>
              </a:rPr>
              <a:t>Best aggregate result on all three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38373" y="5617645"/>
            <a:ext cx="7589520" cy="758952"/>
          </a:xfrm>
          <a:prstGeom prst="roundRect">
            <a:avLst/>
          </a:prstGeom>
          <a:solidFill>
            <a:srgbClr val="ECF4FB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66973" y="5718229"/>
            <a:ext cx="71323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30" b="1">
                <a:solidFill>
                  <a:srgbClr val="0B2E59"/>
                </a:solidFill>
                <a:latin typeface="Arial"/>
              </a:rPr>
              <a:t>Official validation evidence favours M4, while M8 and TimesFM remain close competitors.</a:t>
            </a:r>
          </a:p>
        </p:txBody>
      </p:sp>
    </p:spTree>
    <p:extLst>
      <p:ext uri="{BB962C8B-B14F-4D97-AF65-F5344CB8AC3E}">
        <p14:creationId xmlns:p14="http://schemas.microsoft.com/office/powerpoint/2010/main" val="1636171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8961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50" b="1">
                <a:solidFill>
                  <a:srgbClr val="0B2E59"/>
                </a:solidFill>
                <a:latin typeface="Arial"/>
              </a:rPr>
              <a:t>Validation vs Longer-Horizon Backtest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640080"/>
            <a:ext cx="8869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676D75"/>
                </a:solidFill>
                <a:latin typeface="Arial"/>
              </a:rPr>
              <a:t>Mean MASE comparison for the three strongest candidates across the two evaluation windows.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4297680" cy="3310128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371600"/>
            <a:ext cx="39684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20" b="1">
                <a:solidFill>
                  <a:srgbClr val="0B2E59"/>
                </a:solidFill>
                <a:latin typeface="Arial"/>
              </a:rPr>
              <a:t>Official 5-Month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700784"/>
            <a:ext cx="39684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676D75"/>
                </a:solidFill>
                <a:latin typeface="Arial"/>
              </a:rPr>
              <a:t>Mar–Jul 2023  |  prescribed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30552"/>
            <a:ext cx="2907792" cy="484632"/>
          </a:xfrm>
          <a:prstGeom prst="rect">
            <a:avLst/>
          </a:prstGeom>
          <a:solidFill>
            <a:srgbClr val="0B2E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816352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7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39312" y="2130552"/>
            <a:ext cx="932688" cy="484632"/>
          </a:xfrm>
          <a:prstGeom prst="rect">
            <a:avLst/>
          </a:prstGeom>
          <a:solidFill>
            <a:srgbClr val="0B2E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85032" y="2148840"/>
            <a:ext cx="84124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Arial"/>
              </a:rPr>
              <a:t>Mean MASE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15184"/>
            <a:ext cx="2907792" cy="484632"/>
          </a:xfrm>
          <a:prstGeom prst="rect">
            <a:avLst/>
          </a:prstGeom>
          <a:solidFill>
            <a:srgbClr val="E9F5EA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2816352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10" b="1">
                <a:solidFill>
                  <a:srgbClr val="2E7D32"/>
                </a:solidFill>
                <a:latin typeface="Arial"/>
              </a:rPr>
              <a:t>M4  Blended Recovery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39312" y="2615184"/>
            <a:ext cx="932688" cy="484632"/>
          </a:xfrm>
          <a:prstGeom prst="rect">
            <a:avLst/>
          </a:prstGeom>
          <a:solidFill>
            <a:srgbClr val="E9F5EA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2633472"/>
            <a:ext cx="84124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10" b="1">
                <a:solidFill>
                  <a:srgbClr val="2E7D32"/>
                </a:solidFill>
                <a:latin typeface="Arial"/>
              </a:rPr>
              <a:t>2.48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99816"/>
            <a:ext cx="2907792" cy="484632"/>
          </a:xfrm>
          <a:prstGeom prst="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118104"/>
            <a:ext cx="2816352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10" b="0">
                <a:solidFill>
                  <a:srgbClr val="161A1D"/>
                </a:solidFill>
                <a:latin typeface="Arial"/>
              </a:rPr>
              <a:t>M8  Holt-Winters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39312" y="3099816"/>
            <a:ext cx="932688" cy="484632"/>
          </a:xfrm>
          <a:prstGeom prst="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85032" y="3118104"/>
            <a:ext cx="84124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10" b="0">
                <a:solidFill>
                  <a:srgbClr val="161A1D"/>
                </a:solidFill>
                <a:latin typeface="Arial"/>
              </a:rPr>
              <a:t>2.59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84448"/>
            <a:ext cx="2907792" cy="484632"/>
          </a:xfrm>
          <a:prstGeom prst="rect">
            <a:avLst/>
          </a:prstGeom>
          <a:solidFill>
            <a:srgbClr val="F2EEFA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602736"/>
            <a:ext cx="2816352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10" b="0">
                <a:solidFill>
                  <a:srgbClr val="6B46C1"/>
                </a:solidFill>
                <a:latin typeface="Arial"/>
              </a:rPr>
              <a:t>M7  TimesFM 2.5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39312" y="3584448"/>
            <a:ext cx="932688" cy="484632"/>
          </a:xfrm>
          <a:prstGeom prst="rect">
            <a:avLst/>
          </a:prstGeom>
          <a:solidFill>
            <a:srgbClr val="F2EEFA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85032" y="3602736"/>
            <a:ext cx="84124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10" b="0">
                <a:solidFill>
                  <a:srgbClr val="6B46C1"/>
                </a:solidFill>
                <a:latin typeface="Arial"/>
              </a:rPr>
              <a:t>2.61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50791"/>
            <a:ext cx="3749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Arial"/>
              </a:rPr>
              <a:t>M4 ranks 1st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85232" y="1234440"/>
            <a:ext cx="4297680" cy="3310128"/>
          </a:xfrm>
          <a:prstGeom prst="roundRect">
            <a:avLst/>
          </a:prstGeom>
          <a:solidFill>
            <a:srgbClr val="FFFFFF"/>
          </a:solidFill>
          <a:ln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49824" y="1371600"/>
            <a:ext cx="39684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20" b="1">
                <a:solidFill>
                  <a:srgbClr val="0B2E59"/>
                </a:solidFill>
                <a:latin typeface="Arial"/>
              </a:rPr>
              <a:t>12-Month Recovery Backtest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9824" y="1700784"/>
            <a:ext cx="39684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676D75"/>
                </a:solidFill>
                <a:latin typeface="Arial"/>
              </a:rPr>
              <a:t>Longer supporting evaluation window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13832" y="2130552"/>
            <a:ext cx="2907792" cy="484632"/>
          </a:xfrm>
          <a:prstGeom prst="rect">
            <a:avLst/>
          </a:prstGeom>
          <a:solidFill>
            <a:srgbClr val="0B2E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59552" y="2148840"/>
            <a:ext cx="2816352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7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21624" y="2130552"/>
            <a:ext cx="932688" cy="484632"/>
          </a:xfrm>
          <a:prstGeom prst="rect">
            <a:avLst/>
          </a:prstGeom>
          <a:solidFill>
            <a:srgbClr val="0B2E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67344" y="2148840"/>
            <a:ext cx="84124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Arial"/>
              </a:rPr>
              <a:t>Mean MASE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13832" y="2615184"/>
            <a:ext cx="2907792" cy="484632"/>
          </a:xfrm>
          <a:prstGeom prst="rect">
            <a:avLst/>
          </a:prstGeom>
          <a:solidFill>
            <a:srgbClr val="F2EEFA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59552" y="2633472"/>
            <a:ext cx="2816352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10" b="1">
                <a:solidFill>
                  <a:srgbClr val="6B46C1"/>
                </a:solidFill>
                <a:latin typeface="Arial"/>
              </a:rPr>
              <a:t>M7  TimesFM 2.5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21624" y="2615184"/>
            <a:ext cx="932688" cy="484632"/>
          </a:xfrm>
          <a:prstGeom prst="rect">
            <a:avLst/>
          </a:prstGeom>
          <a:solidFill>
            <a:srgbClr val="F2EEFA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67344" y="2633472"/>
            <a:ext cx="84124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10" b="1">
                <a:solidFill>
                  <a:srgbClr val="6B46C1"/>
                </a:solidFill>
                <a:latin typeface="Arial"/>
              </a:rPr>
              <a:t>2.08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13832" y="3099816"/>
            <a:ext cx="2907792" cy="484632"/>
          </a:xfrm>
          <a:prstGeom prst="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59552" y="3118104"/>
            <a:ext cx="2816352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10" b="0">
                <a:solidFill>
                  <a:srgbClr val="161A1D"/>
                </a:solidFill>
                <a:latin typeface="Arial"/>
              </a:rPr>
              <a:t>M8  Holt-Winters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21624" y="3099816"/>
            <a:ext cx="932688" cy="484632"/>
          </a:xfrm>
          <a:prstGeom prst="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67344" y="3118104"/>
            <a:ext cx="84124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10" b="0">
                <a:solidFill>
                  <a:srgbClr val="161A1D"/>
                </a:solidFill>
                <a:latin typeface="Arial"/>
              </a:rPr>
              <a:t>2.17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13832" y="3584448"/>
            <a:ext cx="2907792" cy="484632"/>
          </a:xfrm>
          <a:prstGeom prst="rect">
            <a:avLst/>
          </a:prstGeom>
          <a:solidFill>
            <a:srgbClr val="E9F5EA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559552" y="3602736"/>
            <a:ext cx="2816352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10" b="0">
                <a:solidFill>
                  <a:srgbClr val="2E7D32"/>
                </a:solidFill>
                <a:latin typeface="Arial"/>
              </a:rPr>
              <a:t>M4  Blended Recovery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21624" y="3584448"/>
            <a:ext cx="932688" cy="484632"/>
          </a:xfrm>
          <a:prstGeom prst="rect">
            <a:avLst/>
          </a:prstGeom>
          <a:solidFill>
            <a:srgbClr val="E9F5EA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67344" y="3602736"/>
            <a:ext cx="84124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10" b="0">
                <a:solidFill>
                  <a:srgbClr val="2E7D32"/>
                </a:solidFill>
                <a:latin typeface="Arial"/>
              </a:rPr>
              <a:t>2.18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59552" y="4050791"/>
            <a:ext cx="3749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B46C1"/>
                </a:solidFill>
                <a:latin typeface="Arial"/>
              </a:rPr>
              <a:t>TimesFM ranks 1st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828032" y="2880360"/>
            <a:ext cx="402336" cy="0"/>
          </a:xfrm>
          <a:prstGeom prst="line">
            <a:avLst/>
          </a:prstGeom>
          <a:ln w="25400">
            <a:solidFill>
              <a:srgbClr val="676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127248" y="5099127"/>
            <a:ext cx="3840480" cy="475488"/>
          </a:xfrm>
          <a:prstGeom prst="roundRect">
            <a:avLst/>
          </a:prstGeom>
          <a:solidFill>
            <a:srgbClr val="ECF4FB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91840" y="5153991"/>
            <a:ext cx="351129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1">
                <a:solidFill>
                  <a:srgbClr val="0B2E59"/>
                </a:solidFill>
                <a:latin typeface="Arial"/>
              </a:rPr>
              <a:t>Backtest gap: M4 is only 0.10 MASE behind TimesFM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782237"/>
            <a:ext cx="7863840" cy="658368"/>
          </a:xfrm>
          <a:prstGeom prst="roundRect">
            <a:avLst/>
          </a:prstGeom>
          <a:solidFill>
            <a:srgbClr val="E9F5E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7824" y="5873677"/>
            <a:ext cx="742492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30" b="1">
                <a:solidFill>
                  <a:srgbClr val="0B2E59"/>
                </a:solidFill>
                <a:latin typeface="Arial"/>
              </a:rPr>
              <a:t>M4 leads the official validation and remains competitive in the longer 12-month backtest.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7824" y="4631436"/>
            <a:ext cx="8137084" cy="310896"/>
          </a:xfrm>
          <a:prstGeom prst="roundRect">
            <a:avLst/>
          </a:prstGeom>
          <a:solidFill>
            <a:srgbClr val="F4F6F8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1" dirty="0">
                <a:solidFill>
                  <a:srgbClr val="676D75"/>
                </a:solidFill>
                <a:latin typeface="Arial"/>
              </a:rPr>
              <a:t>Only the three strongest models are shown; the remaining five recorded higher mean MASE in both comparisons.</a:t>
            </a:r>
          </a:p>
        </p:txBody>
      </p:sp>
    </p:spTree>
    <p:extLst>
      <p:ext uri="{BB962C8B-B14F-4D97-AF65-F5344CB8AC3E}">
        <p14:creationId xmlns:p14="http://schemas.microsoft.com/office/powerpoint/2010/main" val="2774776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8961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50" b="1">
                <a:solidFill>
                  <a:srgbClr val="0B2E59"/>
                </a:solidFill>
                <a:latin typeface="Arial"/>
              </a:rPr>
              <a:t>Why M4 Blended Recovery Was Selected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640080"/>
            <a:ext cx="8686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676D75"/>
                </a:solidFill>
                <a:latin typeface="Arial"/>
              </a:rPr>
              <a:t>Final selection combines the prescribed validation result, longer-horizon evidence, and controlled forecast </a:t>
            </a:r>
            <a:r>
              <a:rPr sz="1200" b="0" dirty="0" err="1">
                <a:solidFill>
                  <a:srgbClr val="676D75"/>
                </a:solidFill>
                <a:latin typeface="Arial"/>
              </a:rPr>
              <a:t>behaviour</a:t>
            </a:r>
            <a:r>
              <a:rPr sz="1200" b="0" dirty="0">
                <a:solidFill>
                  <a:srgbClr val="676D75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2880360" cy="3154680"/>
          </a:xfrm>
          <a:prstGeom prst="roundRect">
            <a:avLst/>
          </a:prstGeom>
          <a:solidFill>
            <a:srgbClr val="E9F5E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67512" y="1399032"/>
            <a:ext cx="420624" cy="420624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399032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" y="1380744"/>
            <a:ext cx="20208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1">
                <a:solidFill>
                  <a:srgbClr val="0B2E59"/>
                </a:solidFill>
                <a:latin typeface="Arial"/>
              </a:rPr>
              <a:t>Leads Official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288780"/>
            <a:ext cx="2404872" cy="1631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161A1D"/>
                </a:solidFill>
                <a:latin typeface="Arial"/>
              </a:rPr>
              <a:t>Best aggregate result across all 20 destinations</a:t>
            </a:r>
            <a:r>
              <a:rPr sz="1150" b="0" dirty="0">
                <a:solidFill>
                  <a:srgbClr val="161A1D"/>
                </a:solidFill>
                <a:latin typeface="Arial"/>
              </a:rPr>
              <a:t>:</a:t>
            </a:r>
            <a:br>
              <a:rPr dirty="0"/>
            </a:br>
            <a:br>
              <a:rPr dirty="0"/>
            </a:br>
            <a:r>
              <a:rPr dirty="0"/>
              <a:t>Mean MASE   2.48</a:t>
            </a:r>
            <a:br>
              <a:rPr dirty="0"/>
            </a:br>
            <a:r>
              <a:rPr dirty="0"/>
              <a:t>Median MASE 1.53</a:t>
            </a:r>
            <a:br>
              <a:rPr dirty="0"/>
            </a:br>
            <a:r>
              <a:rPr dirty="0"/>
              <a:t>Mean MAPE   42.84%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2880360" cy="3154680"/>
          </a:xfrm>
          <a:prstGeom prst="roundRect">
            <a:avLst/>
          </a:prstGeom>
          <a:solidFill>
            <a:srgbClr val="F2EEFA"/>
          </a:solidFill>
          <a:ln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776472" y="1399032"/>
            <a:ext cx="420624" cy="420624"/>
          </a:xfrm>
          <a:prstGeom prst="ellipse">
            <a:avLst/>
          </a:prstGeom>
          <a:solidFill>
            <a:srgbClr val="6B46C1"/>
          </a:solidFill>
          <a:ln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76472" y="1399032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380744"/>
            <a:ext cx="20208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1">
                <a:solidFill>
                  <a:srgbClr val="0B2E59"/>
                </a:solidFill>
                <a:latin typeface="Arial"/>
              </a:rPr>
              <a:t>Competitive Over 12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9624" y="1993392"/>
            <a:ext cx="2404872" cy="2221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161A1D"/>
                </a:solidFill>
                <a:latin typeface="Arial"/>
              </a:rPr>
              <a:t>Longer recovery back</a:t>
            </a:r>
            <a:r>
              <a:rPr lang="en-US" sz="1400" b="0" dirty="0">
                <a:solidFill>
                  <a:srgbClr val="161A1D"/>
                </a:solidFill>
                <a:latin typeface="Arial"/>
              </a:rPr>
              <a:t>-</a:t>
            </a:r>
            <a:r>
              <a:rPr sz="1400" b="0" dirty="0">
                <a:solidFill>
                  <a:srgbClr val="161A1D"/>
                </a:solidFill>
                <a:latin typeface="Arial"/>
              </a:rPr>
              <a:t>test:</a:t>
            </a:r>
            <a:br>
              <a:rPr sz="1400" dirty="0"/>
            </a:br>
            <a:br>
              <a:rPr sz="1400" dirty="0"/>
            </a:br>
            <a:r>
              <a:rPr dirty="0"/>
              <a:t>M4 mean MASE     2.18</a:t>
            </a:r>
            <a:br>
              <a:rPr dirty="0"/>
            </a:br>
            <a:r>
              <a:rPr dirty="0"/>
              <a:t>Times</a:t>
            </a:r>
            <a:r>
              <a:rPr lang="en-US" dirty="0"/>
              <a:t> </a:t>
            </a:r>
            <a:r>
              <a:rPr dirty="0"/>
              <a:t>FM          2.08</a:t>
            </a:r>
            <a:br>
              <a:rPr dirty="0"/>
            </a:br>
            <a:r>
              <a:rPr dirty="0"/>
              <a:t>Holt-Winters     2.17</a:t>
            </a:r>
            <a:br>
              <a:rPr dirty="0"/>
            </a:br>
            <a:br>
              <a:rPr dirty="0"/>
            </a:br>
            <a:r>
              <a:rPr dirty="0"/>
              <a:t>Only 0.10 behind the best mean MASE.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6832" y="1231636"/>
            <a:ext cx="2880360" cy="3154680"/>
          </a:xfrm>
          <a:prstGeom prst="roundRect">
            <a:avLst/>
          </a:prstGeom>
          <a:solidFill>
            <a:srgbClr val="ECF4FB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85431" y="1399032"/>
            <a:ext cx="420624" cy="420624"/>
          </a:xfrm>
          <a:prstGeom prst="ellipse">
            <a:avLst/>
          </a:prstGeom>
          <a:solidFill>
            <a:srgbClr val="0B70C9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85431" y="1399032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5783" y="1380744"/>
            <a:ext cx="20208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1">
                <a:solidFill>
                  <a:srgbClr val="0B2E59"/>
                </a:solidFill>
                <a:latin typeface="Arial"/>
              </a:rPr>
              <a:t>Balanced Forecast Behaviour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8583" y="2019475"/>
            <a:ext cx="2404872" cy="21698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dirty="0"/>
              <a:t>60%  M1 recent-level anchor</a:t>
            </a:r>
            <a:endParaRPr lang="en-US" sz="1500" dirty="0"/>
          </a:p>
          <a:p>
            <a:pPr algn="l"/>
            <a:br>
              <a:rPr sz="1500" dirty="0"/>
            </a:br>
            <a:r>
              <a:rPr sz="1500" dirty="0"/>
              <a:t>40%  M3 seasonal-recovery forecast</a:t>
            </a:r>
            <a:br>
              <a:rPr sz="1500" dirty="0"/>
            </a:br>
            <a:br>
              <a:rPr sz="1500" dirty="0"/>
            </a:br>
            <a:r>
              <a:rPr sz="1500" dirty="0"/>
              <a:t>Lag-1 helps control extreme forecasts while the recovery component retains seasonal shape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01568" y="2788920"/>
            <a:ext cx="173736" cy="0"/>
          </a:xfrm>
          <a:prstGeom prst="line">
            <a:avLst/>
          </a:prstGeom>
          <a:ln w="21590">
            <a:solidFill>
              <a:srgbClr val="676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510528" y="2788920"/>
            <a:ext cx="173736" cy="0"/>
          </a:xfrm>
          <a:prstGeom prst="line">
            <a:avLst/>
          </a:prstGeom>
          <a:ln w="21590">
            <a:solidFill>
              <a:srgbClr val="676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51560" y="4864608"/>
            <a:ext cx="8092440" cy="841248"/>
          </a:xfrm>
          <a:prstGeom prst="roundRect">
            <a:avLst/>
          </a:prstGeom>
          <a:solidFill>
            <a:srgbClr val="0B2E59"/>
          </a:solidFill>
          <a:ln>
            <a:solidFill>
              <a:srgbClr val="0B2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98448" y="4965192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 b="1">
                <a:solidFill>
                  <a:srgbClr val="B9D7F0"/>
                </a:solidFill>
                <a:latin typeface="Arial"/>
              </a:rPr>
              <a:t>FINAL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5202936"/>
            <a:ext cx="758952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20" b="1">
                <a:solidFill>
                  <a:srgbClr val="FFFFFF"/>
                </a:solidFill>
                <a:latin typeface="Arial"/>
              </a:rPr>
              <a:t>M4 — Blended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5934456"/>
            <a:ext cx="7772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dirty="0">
                <a:solidFill>
                  <a:srgbClr val="676D75"/>
                </a:solidFill>
                <a:latin typeface="Arial"/>
              </a:rPr>
              <a:t>Selected for refitting on public history through Jul 2023 and forecasting Aug 2023–Jul 2024</a:t>
            </a:r>
            <a:r>
              <a:rPr sz="1060" b="0" dirty="0">
                <a:solidFill>
                  <a:srgbClr val="676D75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7679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8961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50" b="1">
                <a:solidFill>
                  <a:srgbClr val="0B2E59"/>
                </a:solidFill>
                <a:latin typeface="Arial"/>
              </a:rPr>
              <a:t>Final 12-Month Forecast — Aug 2023 to Jul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640080"/>
            <a:ext cx="8732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76D75"/>
                </a:solidFill>
                <a:latin typeface="Arial"/>
              </a:rPr>
              <a:t>M4 Blended Recovery refitted using public history through Jul 2023; selected destination forecasts shown below.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43000"/>
            <a:ext cx="4370831" cy="2112264"/>
          </a:xfrm>
          <a:prstGeom prst="round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rop_8635731557451151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4315968" cy="2057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37176" y="1143000"/>
            <a:ext cx="4370831" cy="2112264"/>
          </a:xfrm>
          <a:prstGeom prst="round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rop_88154376576802235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170432"/>
            <a:ext cx="4315968" cy="2057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84048" y="3374136"/>
            <a:ext cx="4370831" cy="2112264"/>
          </a:xfrm>
          <a:prstGeom prst="round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rop_8515260810086327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401568"/>
            <a:ext cx="4315968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837176" y="3374136"/>
            <a:ext cx="4370831" cy="2112264"/>
          </a:xfrm>
          <a:prstGeom prst="roundRect">
            <a:avLst/>
          </a:prstGeom>
          <a:solidFill>
            <a:srgbClr val="FFFFFF"/>
          </a:solidFill>
          <a:ln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rop_60312223361235739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401568"/>
            <a:ext cx="4315968" cy="2057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" y="5696712"/>
            <a:ext cx="8028431" cy="603504"/>
          </a:xfrm>
          <a:prstGeom prst="roundRect">
            <a:avLst/>
          </a:prstGeom>
          <a:solidFill>
            <a:srgbClr val="ECF4FB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5779008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B2E59"/>
                </a:solidFill>
                <a:latin typeface="Arial"/>
              </a:rPr>
              <a:t>Forecasts preserve destination-specific recovery levels and seasonal shape rather than imposing a common trajectory.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32704"/>
            <a:ext cx="8321040" cy="749808"/>
          </a:xfrm>
          <a:prstGeom prst="roundRect">
            <a:avLst/>
          </a:prstGeom>
          <a:solidFill>
            <a:srgbClr val="ECF4FB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30" b="1" dirty="0">
                <a:solidFill>
                  <a:srgbClr val="0B2E59"/>
                </a:solidFill>
                <a:latin typeface="Arial"/>
              </a:rPr>
              <a:t>Final forecast horizon: actual values are not available for Aug 2023–Jul 2024.</a:t>
            </a:r>
            <a:endParaRPr lang="en-US" sz="1130" b="1" dirty="0">
              <a:solidFill>
                <a:srgbClr val="0B2E59"/>
              </a:solidFill>
              <a:latin typeface="Arial"/>
            </a:endParaRPr>
          </a:p>
          <a:p>
            <a:pPr algn="ctr"/>
            <a:endParaRPr sz="1130" b="1" dirty="0">
              <a:solidFill>
                <a:srgbClr val="0B2E59"/>
              </a:solidFill>
              <a:latin typeface="Arial"/>
            </a:endParaRPr>
          </a:p>
          <a:p>
            <a:pPr algn="ctr"/>
            <a:r>
              <a:rPr sz="1200" dirty="0">
                <a:solidFill>
                  <a:srgbClr val="C00000"/>
                </a:solidFill>
                <a:latin typeface="Arial"/>
              </a:rPr>
              <a:t>Forecast efficacy is therefore established from the preceding held-out validation and 12-month </a:t>
            </a:r>
            <a:r>
              <a:rPr sz="1200" dirty="0" err="1">
                <a:solidFill>
                  <a:srgbClr val="C00000"/>
                </a:solidFill>
                <a:latin typeface="Arial"/>
              </a:rPr>
              <a:t>backtest</a:t>
            </a:r>
            <a:r>
              <a:rPr sz="1200" dirty="0">
                <a:solidFill>
                  <a:srgbClr val="C00000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3240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2E59"/>
                </a:solidFill>
                <a:latin typeface="Arial"/>
              </a:rPr>
              <a:t>Destination-Level Validation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68707A"/>
                </a:solidFill>
                <a:latin typeface="Arial"/>
              </a:rPr>
              <a:t>Selected markets show why the best aggregate model need not be the best model for every destination.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52360" y="274320"/>
            <a:ext cx="1965960" cy="347472"/>
          </a:xfrm>
          <a:prstGeom prst="roundRect">
            <a:avLst/>
          </a:prstGeom>
          <a:solidFill>
            <a:srgbClr val="ECF4FB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43800" y="288036"/>
            <a:ext cx="1783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0B70C9"/>
                </a:solidFill>
                <a:latin typeface="Arial"/>
              </a:rPr>
              <a:t>Held-out Mar–Jul 2023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4069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1920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3611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2E59"/>
                </a:solidFill>
                <a:latin typeface="Arial"/>
              </a:rPr>
              <a:t>Australia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728216"/>
            <a:ext cx="3611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Arial"/>
              </a:rPr>
              <a:t>M4 validation MASE  1.04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048256"/>
            <a:ext cx="3611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70" b="1">
                <a:solidFill>
                  <a:srgbClr val="222A33"/>
                </a:solidFill>
                <a:latin typeface="Arial"/>
              </a:rPr>
              <a:t>vs M1 1.67  |  M2 4.07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377440"/>
            <a:ext cx="3611880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8707A"/>
                </a:solidFill>
                <a:latin typeface="Arial"/>
              </a:rPr>
              <a:t>Strong local result. Final forecast retains seasonal movement while remaining below the historical peak.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234440"/>
            <a:ext cx="4069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92040" y="1234440"/>
            <a:ext cx="73152" cy="1920240"/>
          </a:xfrm>
          <a:prstGeom prst="rect">
            <a:avLst/>
          </a:prstGeom>
          <a:solidFill>
            <a:srgbClr val="A8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93207" y="1344168"/>
            <a:ext cx="3611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2E59"/>
                </a:solidFill>
                <a:latin typeface="Arial"/>
              </a:rPr>
              <a:t>Japan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7" y="1728216"/>
            <a:ext cx="3611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86200"/>
                </a:solidFill>
                <a:latin typeface="Arial"/>
              </a:rPr>
              <a:t>M4 validation MASE  3.41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2010604"/>
            <a:ext cx="3611880" cy="7648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N" sz="1100" b="1" dirty="0"/>
              <a:t>M3 performs best locally (MASE 3.11). M4 remains competitive at 3.41 and improves on both naive baselines, M1 (4.75) and M2 (5.49)</a:t>
            </a:r>
            <a:endParaRPr lang="en-IN" sz="1100" dirty="0"/>
          </a:p>
          <a:p>
            <a:pPr algn="l"/>
            <a:endParaRPr sz="1070" b="1" dirty="0">
              <a:solidFill>
                <a:srgbClr val="222A33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93207" y="2556219"/>
            <a:ext cx="3611880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68707A"/>
                </a:solidFill>
                <a:latin typeface="Arial"/>
              </a:rPr>
              <a:t>Still a challenging market. Recovery remains harder to capture despite improvement over the simple benchmarks.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74720"/>
            <a:ext cx="4069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474720"/>
            <a:ext cx="73152" cy="1920240"/>
          </a:xfrm>
          <a:prstGeom prst="rect">
            <a:avLst/>
          </a:prstGeom>
          <a:solidFill>
            <a:srgbClr val="A8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3584448"/>
            <a:ext cx="3611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2E59"/>
                </a:solidFill>
                <a:latin typeface="Arial"/>
              </a:rPr>
              <a:t>New Zealand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968496"/>
            <a:ext cx="3611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86200"/>
                </a:solidFill>
                <a:latin typeface="Arial"/>
              </a:rPr>
              <a:t>M4 is not the local leader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4288536"/>
            <a:ext cx="3611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70" b="1">
                <a:solidFill>
                  <a:srgbClr val="222A33"/>
                </a:solidFill>
                <a:latin typeface="Arial"/>
              </a:rPr>
              <a:t>M3 Seasonal Recovery performs better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617720"/>
            <a:ext cx="3611880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8707A"/>
                </a:solidFill>
                <a:latin typeface="Arial"/>
              </a:rPr>
              <a:t>Chosen as a related comparison to Australia. The common blend may understate some recovery months.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3474720"/>
            <a:ext cx="4069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92040" y="3474720"/>
            <a:ext cx="73152" cy="1920240"/>
          </a:xfrm>
          <a:prstGeom prst="rect">
            <a:avLst/>
          </a:prstGeom>
          <a:solidFill>
            <a:srgbClr val="A8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93207" y="3584448"/>
            <a:ext cx="3611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2E59"/>
                </a:solidFill>
                <a:latin typeface="Arial"/>
              </a:rPr>
              <a:t>Taiwan China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3207" y="3968496"/>
            <a:ext cx="3611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86200"/>
                </a:solidFill>
                <a:latin typeface="Arial"/>
              </a:rPr>
              <a:t>M4 is not the local leader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3207" y="4288536"/>
            <a:ext cx="3611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70" b="1">
                <a:solidFill>
                  <a:srgbClr val="222A33"/>
                </a:solidFill>
                <a:latin typeface="Arial"/>
              </a:rPr>
              <a:t>Lag-1 and SARIMA outperform M4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7" y="4617720"/>
            <a:ext cx="3611880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8707A"/>
                </a:solidFill>
                <a:latin typeface="Arial"/>
              </a:rPr>
              <a:t>Contrasting slower-recovery market. A common recovery adjustment can overcorrect for this destination.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19" y="5623560"/>
            <a:ext cx="8544261" cy="978408"/>
          </a:xfrm>
          <a:prstGeom prst="roundRect">
            <a:avLst/>
          </a:prstGeom>
          <a:solidFill>
            <a:srgbClr val="ECF4FB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" y="5705856"/>
            <a:ext cx="8028431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B2E59"/>
                </a:solidFill>
                <a:latin typeface="Arial"/>
              </a:rPr>
              <a:t>Key finding: M4 is strongest overall, but uncertainty and the best-performing model differ across markets.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6078526"/>
            <a:ext cx="802843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68707A"/>
                </a:solidFill>
                <a:latin typeface="Arial"/>
              </a:rPr>
              <a:t>Destination-level results therefore complement — rather than replace — the aggregate model-selection evidence.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2" y="989439"/>
            <a:ext cx="2084831" cy="18158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dirty="0">
                <a:solidFill>
                  <a:srgbClr val="C00000"/>
                </a:solidFill>
                <a:latin typeface="Arial"/>
              </a:rPr>
              <a:t>Accuracy shown here comes from the held-out validation period, where actual observations were available for comparison.</a:t>
            </a:r>
          </a:p>
        </p:txBody>
      </p:sp>
    </p:spTree>
    <p:extLst>
      <p:ext uri="{BB962C8B-B14F-4D97-AF65-F5344CB8AC3E}">
        <p14:creationId xmlns:p14="http://schemas.microsoft.com/office/powerpoint/2010/main" val="412270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2E59"/>
                </a:solidFill>
                <a:latin typeface="Arial"/>
              </a:rPr>
              <a:t>Limitations, Reproducibility &amp;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515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676D75"/>
                </a:solidFill>
                <a:latin typeface="Arial"/>
              </a:rPr>
              <a:t>Final checks distinguish what the workflow demonstrates from where further validation is still needed.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61872"/>
            <a:ext cx="27889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606039" cy="502920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17319"/>
            <a:ext cx="2423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20" b="1">
                <a:solidFill>
                  <a:srgbClr val="A86200"/>
                </a:solidFill>
                <a:latin typeface="Arial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011679"/>
            <a:ext cx="238658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0B2E59"/>
                </a:solidFill>
                <a:latin typeface="Arial"/>
              </a:rPr>
              <a:t>Short validation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258568"/>
            <a:ext cx="23865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76D75"/>
                </a:solidFill>
                <a:latin typeface="Arial"/>
              </a:rPr>
              <a:t>Official validation covers only five months.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852927"/>
            <a:ext cx="238658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0B2E59"/>
                </a:solidFill>
                <a:latin typeface="Arial"/>
              </a:rPr>
              <a:t>Recovery uncertainty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099815"/>
            <a:ext cx="23865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76D75"/>
                </a:solidFill>
                <a:latin typeface="Arial"/>
              </a:rPr>
              <a:t>Post-COVID behaviour varies considerably by destination.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694176"/>
            <a:ext cx="238658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0B2E59"/>
                </a:solidFill>
                <a:latin typeface="Arial"/>
              </a:rPr>
              <a:t>Imputation assumption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941064"/>
            <a:ext cx="23865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76D75"/>
                </a:solidFill>
                <a:latin typeface="Arial"/>
              </a:rPr>
              <a:t>24 internal gaps use linear interpolation; long COVID-period gaps may be nonlinear.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535424"/>
            <a:ext cx="238658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0B2E59"/>
                </a:solidFill>
                <a:latin typeface="Arial"/>
              </a:rPr>
              <a:t>Fixed blend weights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23865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76D75"/>
                </a:solidFill>
                <a:latin typeface="Arial"/>
              </a:rPr>
              <a:t>M4 weight 0.4 and M8 ensemble weight 0.3 were not exhaustively optimised.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1261872"/>
            <a:ext cx="27889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84448" y="1371600"/>
            <a:ext cx="2606039" cy="502920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75887" y="1417319"/>
            <a:ext cx="2423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20" b="1">
                <a:solidFill>
                  <a:srgbClr val="2E7D32"/>
                </a:solidFill>
                <a:latin typeface="Arial"/>
              </a:rPr>
              <a:t>Reproducibility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2011679"/>
            <a:ext cx="238658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0B2E59"/>
                </a:solidFill>
                <a:latin typeface="Arial"/>
              </a:rPr>
              <a:t>Cutoff-safe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4176" y="2258568"/>
            <a:ext cx="23865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76D75"/>
                </a:solidFill>
                <a:latin typeface="Arial"/>
              </a:rPr>
              <a:t>Final model uses public history only through Jul 2023.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2852927"/>
            <a:ext cx="238658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0B2E59"/>
                </a:solidFill>
                <a:latin typeface="Arial"/>
              </a:rPr>
              <a:t>Audit passed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3099815"/>
            <a:ext cx="23865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76D75"/>
                </a:solidFill>
                <a:latin typeface="Arial"/>
              </a:rPr>
              <a:t>12 months × 20 destinations; finite numeric forecasts with no missing values.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3694176"/>
            <a:ext cx="238658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0B2E59"/>
                </a:solidFill>
                <a:latin typeface="Arial"/>
              </a:rPr>
              <a:t>Direct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3941064"/>
            <a:ext cx="23865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76D75"/>
                </a:solidFill>
                <a:latin typeface="Arial"/>
              </a:rPr>
              <a:t>CSV is written from forecast_submission_wide with index=False.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4535424"/>
            <a:ext cx="238658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0B2E59"/>
                </a:solidFill>
                <a:latin typeface="Arial"/>
              </a:rPr>
              <a:t>Deterministic final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4782312"/>
            <a:ext cx="23865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76D75"/>
                </a:solidFill>
                <a:latin typeface="Arial"/>
              </a:rPr>
              <a:t>M4 can be regenerated from the same data and parameters without manual forecast edits.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83096" y="1261872"/>
            <a:ext cx="248716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74536" y="1371600"/>
            <a:ext cx="2304288" cy="502920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65976" y="1417319"/>
            <a:ext cx="21214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20" b="1">
                <a:solidFill>
                  <a:srgbClr val="0B70C9"/>
                </a:solidFill>
                <a:latin typeface="Arial"/>
              </a:rPr>
              <a:t>Collaboration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2011679"/>
            <a:ext cx="208483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0B2E59"/>
                </a:solidFill>
                <a:latin typeface="Arial"/>
              </a:rPr>
              <a:t>Shared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2258568"/>
            <a:ext cx="20848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76D75"/>
                </a:solidFill>
                <a:latin typeface="Arial"/>
              </a:rPr>
              <a:t>Common cutoffs, destination coverage and evaluation rules.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4264" y="2852927"/>
            <a:ext cx="208483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0B2E59"/>
                </a:solidFill>
                <a:latin typeface="Arial"/>
              </a:rPr>
              <a:t>Peer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4264" y="3099815"/>
            <a:ext cx="20848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76D75"/>
                </a:solidFill>
                <a:latin typeface="Arial"/>
              </a:rPr>
              <a:t>Notebook, forecasts and interpretations reviewed collaboratively.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84264" y="3795186"/>
            <a:ext cx="208483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0B2E59"/>
                </a:solidFill>
                <a:latin typeface="Arial"/>
              </a:rPr>
              <a:t>Final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84264" y="4042074"/>
            <a:ext cx="20848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76D75"/>
                </a:solidFill>
                <a:latin typeface="Arial"/>
              </a:rPr>
              <a:t>Notebook and submission outputs checked together before export.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742432"/>
            <a:ext cx="8467344" cy="640080"/>
          </a:xfrm>
          <a:prstGeom prst="roundRect">
            <a:avLst/>
          </a:prstGeom>
          <a:solidFill>
            <a:srgbClr val="ECF4FB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5797296"/>
            <a:ext cx="8092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dirty="0">
                <a:solidFill>
                  <a:srgbClr val="0B2E59"/>
                </a:solidFill>
                <a:latin typeface="Arial"/>
              </a:rPr>
              <a:t>Next step: wider rolling-origin validation, imputation sensitivity checks, forecast intervals, and destination-specific model combinations.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025896"/>
            <a:ext cx="80924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0">
                <a:solidFill>
                  <a:srgbClr val="676D75"/>
                </a:solidFill>
                <a:latin typeface="Arial"/>
              </a:rPr>
              <a:t>These extensions would improve uncertainty assessment while preserving the required point-forecast CSV schema.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81160" y="1325880"/>
            <a:ext cx="2724374" cy="4297680"/>
          </a:xfrm>
          <a:prstGeom prst="roundRect">
            <a:avLst/>
          </a:prstGeom>
          <a:solidFill>
            <a:srgbClr val="ECF4FB"/>
          </a:solidFill>
          <a:ln>
            <a:solidFill>
              <a:srgbClr val="0B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91472" y="1536192"/>
            <a:ext cx="19933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20" b="1">
                <a:solidFill>
                  <a:srgbClr val="0B2E59"/>
                </a:solidFill>
                <a:latin typeface="Arial"/>
              </a:rPr>
              <a:t>Submission ready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01911" y="1812066"/>
            <a:ext cx="2724373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 lang="en-US" sz="1200" b="0" dirty="0">
              <a:solidFill>
                <a:srgbClr val="222A33"/>
              </a:solidFill>
              <a:latin typeface="Arial"/>
            </a:endParaRPr>
          </a:p>
          <a:p>
            <a:pPr algn="ctr"/>
            <a:endParaRPr lang="en-IN" sz="1200" dirty="0">
              <a:solidFill>
                <a:srgbClr val="222A33"/>
              </a:solidFill>
              <a:latin typeface="Arial"/>
            </a:endParaRPr>
          </a:p>
          <a:p>
            <a:pPr algn="ctr"/>
            <a:r>
              <a:rPr sz="1200" b="0" dirty="0">
                <a:solidFill>
                  <a:srgbClr val="222A33"/>
                </a:solidFill>
                <a:latin typeface="Arial"/>
              </a:rPr>
              <a:t>Final forecast audit passed</a:t>
            </a:r>
            <a:br>
              <a:rPr sz="1200" dirty="0"/>
            </a:br>
            <a:br>
              <a:rPr sz="1200" dirty="0"/>
            </a:br>
            <a:r>
              <a:rPr sz="1200" dirty="0"/>
              <a:t>CSV regenerated directly from the audited forecast object.</a:t>
            </a:r>
            <a:br>
              <a:rPr sz="1200" dirty="0"/>
            </a:br>
            <a:br>
              <a:rPr sz="1200" dirty="0"/>
            </a:br>
            <a:r>
              <a:rPr sz="1200" dirty="0"/>
              <a:t>No manual forecast-value</a:t>
            </a:r>
            <a:r>
              <a:rPr lang="en-US" sz="1200" dirty="0"/>
              <a:t> </a:t>
            </a:r>
            <a:r>
              <a:rPr sz="1200" dirty="0"/>
              <a:t>editing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9817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</TotalTime>
  <Words>1395</Words>
  <Application>Microsoft Macintosh PowerPoint</Application>
  <PresentationFormat>Widescreen</PresentationFormat>
  <Paragraphs>284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Carlito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BISWADEEP DASGUPTA</dc:creator>
  <cp:lastModifiedBy>Swaminathan Babu Rao</cp:lastModifiedBy>
  <cp:revision>17</cp:revision>
  <dcterms:created xsi:type="dcterms:W3CDTF">2026-09-23T02:24:38Z</dcterms:created>
  <dcterms:modified xsi:type="dcterms:W3CDTF">2026-09-27T07:53:13Z</dcterms:modified>
</cp:coreProperties>
</file>